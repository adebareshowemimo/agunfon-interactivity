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133" autoAdjust="0"/>
  </p:normalViewPr>
  <p:slideViewPr>
    <p:cSldViewPr snapToGrid="0" snapToObjects="1">
      <p:cViewPr>
        <p:scale>
          <a:sx n="70" d="100"/>
          <a:sy n="70" d="100"/>
        </p:scale>
        <p:origin x="203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94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rule builder form open on a new/edited rule, showing the Trigger and conditions section (Course not completed / Learner inactive / Deadline / Enrolled-but-not-started) and the 'Applies to' scope selector. Capture /local/moderncoursereminder/rule_edit.php (#region-main), light UI, 16:9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course-level rules page showing the 'How course completion reminders work' checklist and the guardrail notice ('Course completion criteria have not been defined… Set up course completion'). Capture /local/moderncoursereminder/rules.php?courseid=85 (#region-main); if the course is fully set up, capture rule_edit.php?courseid=85 to show the criteria-missing guidance.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'Preview matched learners' screen for an inactivity rule — the list of learners who match right now with their reason (e.g. 'No course access for 14 days'). Capture /local/moderncoursereminder/rule_preview.php (#region-main). Alternatively the inactive-learners report at report_inactive.php.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Manager mapping page showing the mappings table (learner → manager, course/org-wide) and the Add mapping / Bulk import actions. Capture /local/moderncoursereminder/managermap.php (#region-main). Optionally inset the rule's Escalation section (days overdue / number of reminders / date).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AI template generator — the 'Describe the email' brief box and a generated draft preview with brand colours. Capture /local/moderncoursereminder/template_ai.php (#region-main). Alternatively, the template editor with the live brand-coloured preview (template_edit.php / template_preview.php).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plugin Settings page showing the Channels section (Enable email / Enable Moodle notifications / Enable digests / Digest frequency). Capture /admin/settings.php?section=local_moderncoursereminder_settings, the Channels heading region. Or a rendered manager digest email ('the following N team members are overdue').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Send reminder now page — the course + audience selector (All enrolled / Not completed / Not started), the 'Preview recipients' result showing the Eligible and Skipped lists (with reasons), and the email preview. Capture /local/moderncoursereminder/manualsend.php (#region-main).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Scheduled campaigns page — the campaigns list with recurrence (One-off / Daily / Weekly / Monthly) and send time, plus the Add campaign action. Capture /local/moderncoursereminder/schedules.php (#region-main). Optionally inset the Rule library starter blueprints at ruletemplates.php.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Reminder queue page — the per-recipient queue table with status (Pending / Sent / Failed / Cancelled), attempts, scheduled time, and Cancel/Requeue actions. Capture /local/moderncoursereminder/queue.php (#region-main).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Reminder effectiveness analytics page — cards/charts for learners reminded, completed after reminder, average days to complete, repeated reminders. Capture /local/moderncoursereminder/report_analytics.php (#region-main). Alternatively the main dashboard metric cards at index.php.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Reminder logs page — the audit log table with filters (course, audience, channel, status, date) and an export control. Capture /local/moderncoursereminder/logs.php (#region-main). Optionally inset the Reports index (reports.php).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Health check page — the status table (Cron, Email delivery, Send queue, Scheduled tasks, Manager mapping, Message templates, AI) with OK / Warning / Problem badges. Capture /local/moderncoursereminder/healthcheck.php (#region-main).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ADD:
IMAGE TO ADD: The Modern Course Reminder dashboard as a confident 'home' shot — the sidebar navigation plus the overview metric cards and recent activity. Capture /local/moderncoursereminder/index.php (#region-main). 16:9 crop, light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BACKGROUND IMAGE:
Optional background: a clean office/desk lifestyle photo with a deep navy/blue overlay (Lambda-style), kept dark enough that the white headline and BUY NOW button stay legible.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548640"/>
            <a:ext cx="1219169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0" b="1" dirty="0">
                <a:solidFill>
                  <a:srgbClr val="1B3A66">
                    <a:alpha val="1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5090008" y="137160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4B8BE8">
              <a:alpha val="18000"/>
            </a:srgbClr>
          </a:solidFill>
          <a:ln w="9525">
            <a:solidFill>
              <a:srgbClr val="D1E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90008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1E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PLUGIN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reasons to choose </a:t>
            </a:r>
            <a:r>
              <a:rPr lang="en-US" sz="4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4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Modern Course Reminder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429768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rule-based reminder engine for Moodle that chases incomplete, inactive and overdue learners automatically, escalates to their managers, and proves it works — all on cron, with audit-ready logs.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24048" y="5486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24048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8B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4.5–5.2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81448" y="5486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81448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8B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GPLv3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38848" y="5486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38848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8B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3962" y="2057400"/>
            <a:ext cx="566013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 on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autopilot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detect not-started, incomplete, inactive and overdue learners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a rule to a course, category, cohort or the whole site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course completion or specific completion-tracked activities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03AE20-A400-7CE1-5EC4-EF5AF060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13" y="1480255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1176" y="398514"/>
            <a:ext cx="5157639" cy="758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Guided</a:t>
            </a: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setup, no broken rules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manage reminder rules right inside their own course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setup checklist covers completion tracking, criteria and activities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that target completion are blocked until the course is set up correctly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6A7866-2E90-2B30-F7AF-B461AC7B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46" y="1478890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8328" y="658504"/>
            <a:ext cx="6062472" cy="6455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Rescue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inactive</a:t>
            </a: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learners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Re-engage learners with no course access or no progress for X days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every N days with a maximum-reminders cap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the exact learners a rule matches before it sends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935684-24BF-BFE6-5126-8C566C958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541" y="1433712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23881" y="395786"/>
            <a:ext cx="5184934" cy="7255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to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managers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a line manager by Moodle role, profile field or manual mapping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Bulk-import learner-to-manager mappings from CSV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on days overdue, reminders received, or a fixed date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A88220-EBDA-461A-3ECD-2784290A2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03" y="1451594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1245" y="-657822"/>
            <a:ext cx="6777478" cy="8715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Branded,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AI-drafted</a:t>
            </a: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templates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learner, manager and digest templates with ~25 placeholders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colours and an email-safe logo, with a sandboxed preview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with Moodle's own AI subsystem — no API keys stored here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EB3164-169B-D430-0575-6AFAE0488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866" y="1465244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78220" y="380773"/>
            <a:ext cx="5389651" cy="758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channel, batched digests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and Moodle notification, selectable per rule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and admin digests batched daily, weekly or monthly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gated by site-wide switches for safe rollout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B6811AC-EF32-8C58-1D57-A33B505A2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10" y="1459554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8886" y="401926"/>
            <a:ext cx="5644714" cy="6968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reminder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now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manual send to a course, with audience filters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eligible before sending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preview, then send now — no rule or schedule required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EA2BED-0EE3-D8AB-4868-3E654C2BC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73" y="1438483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52160" y="163090"/>
            <a:ext cx="6003800" cy="7446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&amp;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campaigns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Ready-made starter rules — launch a campaign in a click and adjust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and recurring scheduled campaigns (daily / weekly / monthly)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send windows and start/stop dates control exactly when sends go out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0ACC0DC-9F87-583F-15A9-0F44CB920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62" y="1438483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896" y="91440"/>
            <a:ext cx="6089904" cy="725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entirely on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→ queue → send → retry across seven scheduled tasks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De-duplication so a learner is never spammed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Per-run throttle, retry limits and a cancel/requeue queue viewer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BD88D1-0825-11FA-59BC-2DF461A69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90" y="1492538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87568" y="91440"/>
            <a:ext cx="6156655" cy="758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it lifts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completion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Effectiveness: learners reminded and completed-after-reminder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days-to-complete and repeated-reminder counts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of rules, sends, pending, failed, overdue and escalations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9211B6-8C54-5E0A-C7F9-BF94AFE58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04" y="1465242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8414" y="306392"/>
            <a:ext cx="6954899" cy="715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Audit-ready</a:t>
            </a: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design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Filterable, exportable delivery logs of every reminder sent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Overdue, inactive, rule-performance and escalation reports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Builder datasource for the reminder delivery log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DB5B39-268A-E0BA-FFAA-43CA7AEF9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90" y="1455418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67052" y="477672"/>
            <a:ext cx="560801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640080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respectful</a:t>
            </a: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sending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 opt-out and auto-skip of suspended / no-email / exempt users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De-dup and a daily send window keep volume sane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health check for cron, email, queue, mapping and templates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96467A-E559-0F7A-95A2-D71E15D9D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62" y="1465242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3006" y="2410741"/>
            <a:ext cx="669559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0" b="1" dirty="0">
                <a:solidFill>
                  <a:srgbClr val="E8EE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32000" dirty="0"/>
          </a:p>
        </p:txBody>
      </p:sp>
      <p:sp>
        <p:nvSpPr>
          <p:cNvPr id="4" name="Shape 1"/>
          <p:cNvSpPr/>
          <p:nvPr/>
        </p:nvSpPr>
        <p:spPr>
          <a:xfrm>
            <a:off x="822960" y="914400"/>
            <a:ext cx="777240" cy="640080"/>
          </a:xfrm>
          <a:prstGeom prst="roundRect">
            <a:avLst>
              <a:gd name="adj" fmla="val 25714"/>
            </a:avLst>
          </a:prstGeom>
          <a:solidFill>
            <a:srgbClr val="4B8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2960" y="914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F3D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Moodle-native, </a:t>
            </a:r>
            <a:r>
              <a:rPr lang="en-US" sz="34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future-proof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core Completion, Enrolment and Messaging APIs — nothing external to host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GDPR privacy provider with export and deletion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✓"/>
            </a:pPr>
            <a:r>
              <a:rPr lang="en-US" sz="1600" dirty="0">
                <a:solidFill>
                  <a:srgbClr val="1F2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4.5–5.2; one-command switch from the old free reminder plugin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1E3FF"/>
            </a:solidFill>
            <a:prstDash val="dash"/>
          </a:ln>
          <a:effectLst>
            <a:outerShdw blurRad="228600" dist="76200" dir="5400000" algn="bl" rotWithShape="0">
              <a:srgbClr val="0F3D7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4DE230-C5F7-C24B-35A3-69A3B801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160" y="1438483"/>
            <a:ext cx="4895512" cy="39810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ln w="19050">
            <a:solidFill>
              <a:srgbClr val="4B8BE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-640080" y="-640080"/>
            <a:ext cx="2011680" cy="2011680"/>
          </a:xfrm>
          <a:prstGeom prst="ellipse">
            <a:avLst/>
          </a:prstGeom>
          <a:ln w="19050">
            <a:solidFill>
              <a:srgbClr val="4B8BE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65615" y="4480560"/>
            <a:ext cx="3840480" cy="3840480"/>
          </a:xfrm>
          <a:prstGeom prst="ellipse">
            <a:avLst/>
          </a:prstGeom>
          <a:solidFill>
            <a:srgbClr val="4B8B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7373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Convinced?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</a:t>
            </a:r>
            <a:r>
              <a:rPr lang="en-US" sz="3000" b="1" i="1" dirty="0">
                <a:solidFill>
                  <a:srgbClr val="4B8B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Modern Course Reminder</a:t>
            </a: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now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41368" y="393192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4B8BE8"/>
          </a:solidFill>
          <a:ln/>
          <a:effectLst>
            <a:outerShdw blurRad="203200" dist="63500" dir="5400000" algn="bl" rotWithShape="0">
              <a:srgbClr val="0A2E5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41368" y="393192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NOW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509320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D6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https://agunfoninteractivity.com/plugins/modern-course-reminder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550408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0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4.5–5.2 · GPLv3 · 30-day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1479</Words>
  <Application>Microsoft Office PowerPoint</Application>
  <PresentationFormat>Widescreen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Agunfon Interactivity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Agunfon Interactivity</dc:creator>
  <cp:lastModifiedBy>Adebare Showemimo</cp:lastModifiedBy>
  <cp:revision>7</cp:revision>
  <dcterms:created xsi:type="dcterms:W3CDTF">2026-06-09T02:29:53Z</dcterms:created>
  <dcterms:modified xsi:type="dcterms:W3CDTF">2026-06-09T14:17:34Z</dcterms:modified>
</cp:coreProperties>
</file>